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5e8cff400c45f9" /><Relationship Type="http://schemas.openxmlformats.org/officeDocument/2006/relationships/extended-properties" Target="/docProps/app.xml" Id="R7cc7543aa2554a7d" /><Relationship Type="http://schemas.openxmlformats.org/officeDocument/2006/relationships/officeDocument" Target="/ppt/presentation.xml" Id="R03d9be4486bf48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d31e3ba6fe4cf4"/>
  </p:sldMasterIdLst>
  <p:notesMasterIdLst>
    <p:notesMasterId xmlns:r="http://schemas.openxmlformats.org/officeDocument/2006/relationships" r:id="R7ffdf35e753e4e31"/>
  </p:notesMasterIdLst>
  <p:sldIdLst>
    <p:sldId xmlns:r="http://schemas.openxmlformats.org/officeDocument/2006/relationships" id="256" r:id="R95a65fe89ebb47a5"/>
    <p:sldId xmlns:r="http://schemas.openxmlformats.org/officeDocument/2006/relationships" id="257" r:id="R3fe69368acab4612"/>
    <p:sldId xmlns:r="http://schemas.openxmlformats.org/officeDocument/2006/relationships" id="258" r:id="R59ebe298c03c46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9420ffb74d41c2" /><Relationship Type="http://schemas.openxmlformats.org/officeDocument/2006/relationships/slideMaster" Target="/ppt/slideMasters/slideMaster1.xml" Id="R35d31e3ba6fe4cf4" /><Relationship Type="http://schemas.openxmlformats.org/officeDocument/2006/relationships/notesMaster" Target="/ppt/notesMasters/notesMaster1.xml" Id="R7ffdf35e753e4e31" /><Relationship Type="http://schemas.openxmlformats.org/officeDocument/2006/relationships/presProps" Target="/ppt/presProps.xml" Id="R49220d4e1de74a05" /><Relationship Type="http://schemas.openxmlformats.org/officeDocument/2006/relationships/tableStyles" Target="/ppt/tableStyles.xml" Id="R9363ea68488b4595" /><Relationship Type="http://schemas.openxmlformats.org/officeDocument/2006/relationships/slide" Target="/ppt/slides/slide1.xml" Id="R95a65fe89ebb47a5" /><Relationship Type="http://schemas.openxmlformats.org/officeDocument/2006/relationships/slide" Target="/ppt/slides/slide2.xml" Id="R3fe69368acab4612" /><Relationship Type="http://schemas.openxmlformats.org/officeDocument/2006/relationships/slide" Target="/ppt/slides/slide3.xml" Id="R59ebe298c03c46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6a8e06aa9c46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fdd8e137dd4cf9" /><Relationship Type="http://schemas.openxmlformats.org/officeDocument/2006/relationships/notesMaster" Target="/ppt/notesMasters/notesMaster1.xml" Id="R84d0fa1f68ae4d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1eac8f5e6d4bf5" /><Relationship Type="http://schemas.openxmlformats.org/officeDocument/2006/relationships/notesMaster" Target="/ppt/notesMasters/notesMaster1.xml" Id="R551bfc2f2bbc4a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232b9770594693" /><Relationship Type="http://schemas.openxmlformats.org/officeDocument/2006/relationships/notesMaster" Target="/ppt/notesMasters/notesMaster1.xml" Id="Rcd0d64930e3445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problem statement and app flow; apps/web/src/components/setup-screen.tsx; apps/web/src/lib/prompts.ts. Visual source: apps/web/public/welcome-interview-v2.png.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How it works section; apps/web/src/components/setup-screen.tsx; apps/web/src/components/risk-map-screen.tsx; apps/web/src/components/interview-screen.tsx; apps/web/src/components/feedback-screen.tsx. Visual source: apps/web/public/interviewer-sana.png.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No environment variables, no server section; apps/web/src/app/page.tsx; apps/web/src/lib/prompts.ts; apps/web/src/lib/gemini.ts. Visual source: apps/web/public/interviewer-profile.png.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18a754e3449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d6368c26714dab" /><Relationship Type="http://schemas.openxmlformats.org/officeDocument/2006/relationships/slideLayout" Target="/ppt/slideLayouts/slideLayout1.xml" Id="R40ff0803195048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ff0803195048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867bfc7c74555" /><Relationship Type="http://schemas.openxmlformats.org/officeDocument/2006/relationships/image" Target="/ppt/media/image.png" Id="R8da2c45bbb214d34" /><Relationship Type="http://schemas.openxmlformats.org/officeDocument/2006/relationships/notesSlide" Target="/ppt/notesSlides/notesSlide1.xml" Id="R545ee64c8fef44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e07c7d8b04bd3" /><Relationship Type="http://schemas.openxmlformats.org/officeDocument/2006/relationships/image" Target="/ppt/media/image2.png" Id="Re847c1296fda4857" /><Relationship Type="http://schemas.openxmlformats.org/officeDocument/2006/relationships/notesSlide" Target="/ppt/notesSlides/notesSlide2.xml" Id="R828b164cef394c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4c3015d3f431c" /><Relationship Type="http://schemas.openxmlformats.org/officeDocument/2006/relationships/image" Target="/ppt/media/image3.png" Id="Rf872e2b5576e4d36" /><Relationship Type="http://schemas.openxmlformats.org/officeDocument/2006/relationships/notesSlide" Target="/ppt/notesSlides/notesSlide3.xml" Id="R61968265e05445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2c45bbb214d34"/>
          <a:srcRect xmlns:a="http://schemas.openxmlformats.org/drawingml/2006/main" l="0" t="6667" r="0" b="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FF541-CB96-4556-A191-8013DF0C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5F46">
                  <a:alpha val="10000"/>
                </a:srgbClr>
              </a:gs>
              <a:gs pos="100000">
                <a:srgbClr val="0EA5E9">
                  <a:alpha val="18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2A9B5E-E7F6-49B8-B5D4-B18E4496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FFFF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369A1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369A1"/>
                </a:solidFill>
                <a:latin typeface="Inter"/>
                <a:ea typeface="Inter"/>
                <a:cs typeface="Inter"/>
              </a:rPr>
              <a:t>Real interview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49CDFB-6064-4591-B43D-9577E7C3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905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369A1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0369A1"/>
                </a:solidFill>
                <a:latin typeface="Inter"/>
                <a:ea typeface="Inter"/>
                <a:cs typeface="Inter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D6861-0B27-4D75-9C92-5AE27B8E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181100"/>
            <a:ext cx="5429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60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Generic prep hides the questions that matter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0BABC-5CAF-45EE-8586-C0B93A75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146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525866"/>
                </a:solidFill>
                <a:latin typeface="Inter"/>
                <a:ea typeface="Inter"/>
                <a:cs typeface="Inter"/>
              </a:rPr>
              <a:t>Candidates prepare from broad question banks while the real interview follows the role, resume claims, and unclear evidence in their profile.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ED184-02A0-4AD3-8C20-9F041B52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76700"/>
            <a:ext cx="47625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76000"/>
            </a:srgbClr>
          </a:solidFill>
          <a:ln xmlns:a="http://schemas.openxmlformats.org/drawingml/2006/main" w="9525">
            <a:solidFill>
              <a:srgbClr val="FFFFFF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0C375-F196-47B0-B7C2-4F209521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24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Common prep misses three things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F926E-F32F-4908-BB88-1F233934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053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30"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525866"/>
                </a:solidFill>
                <a:latin typeface="Inter"/>
                <a:ea typeface="Inter"/>
                <a:cs typeface="Inter"/>
              </a:rPr>
              <a:t>Risky resume claims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525866"/>
                </a:solidFill>
                <a:latin typeface="Inter"/>
                <a:ea typeface="Inter"/>
                <a:cs typeface="Inter"/>
              </a:rPr>
              <a:t>Role gaps hidden inside the JD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525866"/>
                </a:solidFill>
                <a:latin typeface="Inter"/>
                <a:ea typeface="Inter"/>
                <a:cs typeface="Inter"/>
              </a:rPr>
              <a:t>Follow-up questions that test ownership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C87E5-49E4-4505-A31F-7FA30147F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Pressure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4D4D1-D72F-4C93-8E66-B40F36E4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525866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862336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7c1296fda4857"/>
          <a:srcRect xmlns:a="http://schemas.openxmlformats.org/drawingml/2006/main" l="0" t="407" r="0" b="4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819150"/>
            <a:ext cx="3124200" cy="4648200"/>
          </a:xfrm>
          <a:prstGeom xmlns:a="http://schemas.openxmlformats.org/drawingml/2006/main" prst="roundRect">
            <a:avLst>
              <a:gd name="adj" fmla="val 10366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3724D-2F66-4E0F-84FD-9D9F5786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0"/>
            <a:ext cx="47053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>
                  <a:alpha val="0"/>
                </a:srgbClr>
              </a:gs>
              <a:gs pos="100000">
                <a:srgbClr val="E0F2FE">
                  <a:alpha val="70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51338-0709-4798-813E-D3D55CBA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369A1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0369A1"/>
                </a:solidFill>
                <a:latin typeface="Inter"/>
                <a:ea typeface="Inter"/>
                <a:cs typeface="Inter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754B9-A9CC-4CEC-BE34-F575BFF6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19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30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Pressure turns a target role into a realistic mock interview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15854-DD3F-4550-9E07-D40E6ABA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563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154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525866"/>
                </a:solidFill>
                <a:latin typeface="Inter"/>
                <a:ea typeface="Inter"/>
                <a:cs typeface="Inter"/>
              </a:rPr>
              <a:t>The product reads the job description and candidate profile, maps likely weak spots, asks tailored questions aloud, then grades the answers against the same 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51B9B-6F5A-455E-815D-55F8CC8B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2686050" cy="11049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5E7EB">
                <a:alpha val="9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B6565-00F9-4E96-A24C-87D650E0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338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66C2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A66C2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AAFC8-3870-4E3A-965E-A2F8F655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338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Profile and JD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C0BFD-CD9C-4DD6-8F17-5428E259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4815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77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63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525866"/>
                </a:solidFill>
                <a:latin typeface="Inter"/>
                <a:ea typeface="Inter"/>
                <a:cs typeface="Inter"/>
              </a:rPr>
              <a:t>Candidate shares the exact role and resume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E0334-A303-435C-ADD4-8A0EA9D7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62375"/>
            <a:ext cx="2857500" cy="11049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5E7EB">
                <a:alpha val="9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7BC84-56FD-4910-B7B4-A9A1E052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338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969BE-63E8-491E-BDE5-928E3EB8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33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Risk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24999-7C64-4DE7-BA7B-1B27ECF2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481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77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63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525866"/>
                </a:solidFill>
                <a:latin typeface="Inter"/>
                <a:ea typeface="Inter"/>
                <a:cs typeface="Inter"/>
              </a:rPr>
              <a:t>The app surfaces claims and gaps before the call begins.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6CBA7-F756-4CFB-A9A4-632516F5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2686050" cy="11049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5E7EB">
                <a:alpha val="9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A1CD2D-0A6A-4B2D-BA4B-66A62F82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369A1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369A1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0A0887-6452-49C7-9643-8A8DBCF2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197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Phone-style practice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4693C-6918-4A28-A171-DBF5157F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340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397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63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525866"/>
                </a:solidFill>
                <a:latin typeface="Inter"/>
                <a:ea typeface="Inter"/>
                <a:cs typeface="Inter"/>
              </a:rPr>
              <a:t>Questions are spoken aloud and answered by voice or typing.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C51887-185E-4003-8ABB-10E6B8D9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48250"/>
            <a:ext cx="2857500" cy="11049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5E7EB">
                <a:alpha val="9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AFFC1-27A0-4D7C-9A10-5452506F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197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B981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B981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809DB-83C9-48F4-A5EA-AF25269C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19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3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Feedback and cheat sheet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0547FF-8E85-4996-96F7-C47414A9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34025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214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63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525866"/>
                </a:solidFill>
                <a:latin typeface="Inter"/>
                <a:ea typeface="Inter"/>
                <a:cs typeface="Inter"/>
              </a:rPr>
              <a:t>Scores, missed points, and revision links focus the next pass.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575FAB-EEE2-4CF5-8687-3E9F7233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5300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FFFF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369A1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369A1"/>
                </a:solidFill>
                <a:latin typeface="Inter"/>
                <a:ea typeface="Inter"/>
                <a:cs typeface="Inter"/>
              </a:rPr>
              <a:t>Likely interviewer probe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94D2B5-9E97-4DAA-BC31-9431B80F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67350"/>
            <a:ext cx="4000500" cy="80010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FFFFFF">
              <a:alpha val="86000"/>
            </a:srgbClr>
          </a:solidFill>
          <a:ln xmlns:a="http://schemas.openxmlformats.org/drawingml/2006/main" w="9525">
            <a:solidFill>
              <a:srgbClr val="FFFF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24226B-E076-4FAD-A4E7-2A64D772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769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2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"Your LinkedIn says you led the launch. What did you personally own?"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72B66E-3FD2-4586-A943-601363C1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Pressure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9B5929-9F59-4FF0-92B0-95CB68AB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525866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28065352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9F8"/>
            </a:gs>
            <a:gs pos="100000">
              <a:srgbClr val="FFFFFF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2e2b5576e4d36"/>
          <a:srcRect xmlns:a="http://schemas.openxmlformats.org/drawingml/2006/main" l="0" t="1899" r="0" b="1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1200150"/>
            <a:ext cx="3009900" cy="4343400"/>
          </a:xfrm>
          <a:prstGeom xmlns:a="http://schemas.openxmlformats.org/drawingml/2006/main" prst="roundRect">
            <a:avLst>
              <a:gd name="adj" fmla="val 1012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45CE51-E825-4137-9A01-D10E6BB4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34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369A1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0369A1"/>
                </a:solidFill>
                <a:latin typeface="Inter"/>
                <a:ea typeface="Inter"/>
                <a:cs typeface="Inter"/>
              </a:rPr>
              <a:t>System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B5911-69B3-4EE0-9B56-21459434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0490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611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Client-side Gemini calls create each interview artifact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37125-B8D1-448D-97BB-F6FDCDE3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513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525866"/>
                </a:solidFill>
                <a:latin typeface="Inter"/>
                <a:ea typeface="Inter"/>
                <a:cs typeface="Inter"/>
              </a:rPr>
              <a:t>Pressure keeps user data in the browser. The Gemini key sits in localStorage, and structured requests go directly from the client to Google’s Generative Language API.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C02DF-10DA-4C13-84A0-B6EA3F5B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6191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476CF-290C-4359-89AC-833052A1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14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A66C2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A66C2"/>
                </a:solidFill>
                <a:latin typeface="Inter"/>
                <a:ea typeface="Inter"/>
                <a:cs typeface="Inter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CA692-8E3B-4F32-AABB-62E7D8FA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1470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0A0A0A"/>
                </a:solidFill>
                <a:latin typeface="Inter"/>
                <a:ea typeface="Inter"/>
                <a:cs typeface="Inter"/>
              </a:rPr>
              <a:t>Job description, resume, level, mode, and round 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149F7-CEB3-4A50-A200-CC9242BA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43325"/>
            <a:ext cx="6191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8FAFC">
              <a:alpha val="8200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85A967-E8A5-4DC6-8E53-63AE010D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385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Risk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BC2F5-0594-491C-900A-D61DC474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38575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0A0A0A"/>
                </a:solidFill>
                <a:latin typeface="Inter"/>
                <a:ea typeface="Inter"/>
                <a:cs typeface="Inter"/>
              </a:rPr>
              <a:t>roleMatch, strongestSignals, three risks, and a short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83D4A-9097-4164-8579-0EB4B32A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67200"/>
            <a:ext cx="6191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A0E221-34CF-4E14-8743-E61F37CE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62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369A1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369A1"/>
                </a:solidFill>
                <a:latin typeface="Inter"/>
                <a:ea typeface="Inter"/>
                <a:cs typeface="Inter"/>
              </a:rPr>
              <a:t>Interview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83737-C9D3-4A6C-969E-1C1865F5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624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0A0A0A"/>
                </a:solidFill>
                <a:latin typeface="Inter"/>
                <a:ea typeface="Inter"/>
                <a:cs typeface="Inter"/>
              </a:rPr>
              <a:t>Seven tailored questions with hidden grading targets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B7D12-2903-4210-8D3C-102CA2EC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91075"/>
            <a:ext cx="6191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8FAFC">
              <a:alpha val="8200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00DC3-0680-420B-A850-BF81F26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863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F44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EF4444"/>
                </a:solidFill>
                <a:latin typeface="Inter"/>
                <a:ea typeface="Inter"/>
                <a:cs typeface="Inter"/>
              </a:rPr>
              <a:t>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B57CD-0EA7-48AA-BEC1-22EC192C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86325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0A0A0A"/>
                </a:solidFill>
                <a:latin typeface="Inter"/>
                <a:ea typeface="Inter"/>
                <a:cs typeface="Inter"/>
              </a:rPr>
              <a:t>Overall score, four dimensions, per-question verdicts, and missed 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1CC325-FF4D-4E09-82A7-4DEDEA26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14950"/>
            <a:ext cx="6191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31C58E-7627-4403-803A-0ABDBA37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10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B981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B981"/>
                </a:solidFill>
                <a:latin typeface="Inter"/>
                <a:ea typeface="Inter"/>
                <a:cs typeface="Inter"/>
              </a:rPr>
              <a:t>Cheat sheet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E823F-724D-4597-9AC3-7138F58D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1020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0A0A0A"/>
                </a:solidFill>
                <a:latin typeface="Inter"/>
                <a:ea typeface="Inter"/>
                <a:cs typeface="Inter"/>
              </a:rPr>
              <a:t>Revision notes and stable reference links from weakest answers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E931C-B306-4A22-9467-D8E54E3C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2362200" cy="704850"/>
          </a:xfrm>
          <a:prstGeom xmlns:a="http://schemas.openxmlformats.org/drawingml/2006/main" prst="roundRect">
            <a:avLst>
              <a:gd name="adj" fmla="val 32432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FFFF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41FB19-BECC-4B92-91A2-A1045B77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244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No backend secrets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22F0E-2316-4B09-A8D6-7EB55EF5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81625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166"/>
          </a:bodyPr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013">
                <a:solidFill>
                  <a:srgbClr val="525866"/>
                </a:solidFill>
                <a:latin typeface="Inter"/>
                <a:ea typeface="Inter"/>
                <a:cs typeface="Inter"/>
              </a:rPr>
              <a:t>The repository has no API routes.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09813-467D-4365-BAC3-6182628F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Pressure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317E0-4CA3-4547-959D-0AA1C932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525866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98481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2026-09-05T10:21:09.8640000Z</dcterms:created>
  <dcterms:modified xsi:type="dcterms:W3CDTF">2026-09-05T10:21:09.8640000Z</dcterms:modified>
</coreProperties>
</file>