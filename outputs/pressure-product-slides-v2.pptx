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c94deb00b14b85" /><Relationship Type="http://schemas.openxmlformats.org/officeDocument/2006/relationships/extended-properties" Target="/docProps/app.xml" Id="Raabe1ca8229247b8" /><Relationship Type="http://schemas.openxmlformats.org/officeDocument/2006/relationships/officeDocument" Target="/ppt/presentation.xml" Id="R3eead25b7bbd47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f8588bc5854fce"/>
  </p:sldMasterIdLst>
  <p:notesMasterIdLst>
    <p:notesMasterId xmlns:r="http://schemas.openxmlformats.org/officeDocument/2006/relationships" r:id="Rd2a2ff4594c646f3"/>
  </p:notesMasterIdLst>
  <p:sldIdLst>
    <p:sldId xmlns:r="http://schemas.openxmlformats.org/officeDocument/2006/relationships" id="256" r:id="R7eaddd4d1e914d93"/>
    <p:sldId xmlns:r="http://schemas.openxmlformats.org/officeDocument/2006/relationships" id="257" r:id="R5fca5598672f4dc2"/>
    <p:sldId xmlns:r="http://schemas.openxmlformats.org/officeDocument/2006/relationships" id="258" r:id="Rc6420c628da3424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c58e5948444ef7" /><Relationship Type="http://schemas.openxmlformats.org/officeDocument/2006/relationships/slideMaster" Target="/ppt/slideMasters/slideMaster1.xml" Id="Rcaf8588bc5854fce" /><Relationship Type="http://schemas.openxmlformats.org/officeDocument/2006/relationships/notesMaster" Target="/ppt/notesMasters/notesMaster1.xml" Id="Rd2a2ff4594c646f3" /><Relationship Type="http://schemas.openxmlformats.org/officeDocument/2006/relationships/presProps" Target="/ppt/presProps.xml" Id="Re85ae96798f74098" /><Relationship Type="http://schemas.openxmlformats.org/officeDocument/2006/relationships/tableStyles" Target="/ppt/tableStyles.xml" Id="Ra8001e22502d4e6d" /><Relationship Type="http://schemas.openxmlformats.org/officeDocument/2006/relationships/slide" Target="/ppt/slides/slide1.xml" Id="R7eaddd4d1e914d93" /><Relationship Type="http://schemas.openxmlformats.org/officeDocument/2006/relationships/slide" Target="/ppt/slides/slide2.xml" Id="R5fca5598672f4dc2" /><Relationship Type="http://schemas.openxmlformats.org/officeDocument/2006/relationships/slide" Target="/ppt/slides/slide3.xml" Id="Rc6420c628da342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48cb93245e4e9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e0338cde91455f" /><Relationship Type="http://schemas.openxmlformats.org/officeDocument/2006/relationships/notesMaster" Target="/ppt/notesMasters/notesMaster1.xml" Id="R315c3ee57cd04f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db1be55cb54102" /><Relationship Type="http://schemas.openxmlformats.org/officeDocument/2006/relationships/notesMaster" Target="/ppt/notesMasters/notesMaster1.xml" Id="R9e1abc838aac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a23212e3f8453e" /><Relationship Type="http://schemas.openxmlformats.org/officeDocument/2006/relationships/notesMaster" Target="/ppt/notesMasters/notesMaster1.xml" Id="R60efb3540e1946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problem statement and app flow; apps/web/src/components/setup-screen.tsx; apps/web/src/lib/prompts.ts. Visual source: apps/web/public/welcome-interview-v2.png.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How it works section; apps/web/src/components/setup-screen.tsx; apps/web/src/components/risk-map-screen.tsx; apps/web/src/components/interview-screen.tsx; apps/web/src/components/feedback-screen.tsx. Visual source: apps/web/public/interviewer-sana.png.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No environment variables, no server section; apps/web/src/app/page.tsx; apps/web/src/lib/prompts.ts; apps/web/src/lib/gemini.ts. Visual source: apps/web/public/interviewer-profile.png.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c15614af84c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8de7d77489407c" /><Relationship Type="http://schemas.openxmlformats.org/officeDocument/2006/relationships/slideLayout" Target="/ppt/slideLayouts/slideLayout1.xml" Id="R20d848e20e0d4cd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d848e20e0d4cd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5037736524360" /><Relationship Type="http://schemas.openxmlformats.org/officeDocument/2006/relationships/image" Target="/ppt/media/image.png" Id="R3cfdd5da953a460b" /><Relationship Type="http://schemas.openxmlformats.org/officeDocument/2006/relationships/notesSlide" Target="/ppt/notesSlides/notesSlide1.xml" Id="R17cb98d4d06343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180fa5eab4e67" /><Relationship Type="http://schemas.openxmlformats.org/officeDocument/2006/relationships/image" Target="/ppt/media/image2.png" Id="R76d94aba933349e2" /><Relationship Type="http://schemas.openxmlformats.org/officeDocument/2006/relationships/notesSlide" Target="/ppt/notesSlides/notesSlide2.xml" Id="R0dea300ec6e94d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5a22f9f0f4229" /><Relationship Type="http://schemas.openxmlformats.org/officeDocument/2006/relationships/image" Target="/ppt/media/image3.png" Id="R10d47e476ab54c0d" /><Relationship Type="http://schemas.openxmlformats.org/officeDocument/2006/relationships/notesSlide" Target="/ppt/notesSlides/notesSlide3.xml" Id="R88d9c370f3f845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dd5da953a460b"/>
          <a:srcRect xmlns:a="http://schemas.openxmlformats.org/drawingml/2006/main" l="0" t="6667" r="0" b="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E4F659-2F48-407E-9BEC-8E87C21C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143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5F46">
                  <a:alpha val="10000"/>
                </a:srgbClr>
              </a:gs>
              <a:gs pos="100000">
                <a:srgbClr val="0EA5E9">
                  <a:alpha val="18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318492-DDB4-4D04-812B-7CD0B006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1809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Real interview practice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ECCA4-42E8-488C-AFD5-5D26E1A8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9055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EBD3AA-E0BE-4EFC-A5B6-D913E235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181100"/>
            <a:ext cx="5429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6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6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Generic prep hides the questions that matter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37AC2-FACA-41CB-9C77-5C8C496C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91465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011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75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575">
                <a:solidFill>
                  <a:srgbClr val="525866"/>
                </a:solidFill>
                <a:latin typeface="Inter"/>
                <a:ea typeface="Inter"/>
                <a:cs typeface="Inter"/>
              </a:rPr>
              <a:t>Candidates prepare from broad question banks while the real interview follows the role, resume claims, and unclear evidence in their profile.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15862-EE6E-4466-A179-08D85E24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76700"/>
            <a:ext cx="47625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>
              <a:alpha val="76000"/>
            </a:srgbClr>
          </a:solidFill>
          <a:ln xmlns:a="http://schemas.openxmlformats.org/drawingml/2006/main" w="9525">
            <a:solidFill>
              <a:srgbClr val="FFFF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6AD2E-B1DC-45B2-B635-2E2A3E900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243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Common prep misses three things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D900CB-6781-4A82-BDFF-183EAD5D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053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9630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Risky resume claims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Role gaps hidden inside the JD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35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350">
                <a:solidFill>
                  <a:srgbClr val="525866"/>
                </a:solidFill>
                <a:latin typeface="Inter"/>
                <a:ea typeface="Inter"/>
                <a:cs typeface="Inter"/>
              </a:rPr>
              <a:t>Follow-up questions that test ownership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82FBBB-F742-4238-A954-7560B6AA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00B99-3E5A-44C0-8AEC-0E2A4490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01193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94aba933349e2"/>
          <a:srcRect xmlns:a="http://schemas.openxmlformats.org/drawingml/2006/main" l="0" t="407" r="0" b="4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0" y="819150"/>
            <a:ext cx="3124200" cy="4648200"/>
          </a:xfrm>
          <a:prstGeom xmlns:a="http://schemas.openxmlformats.org/drawingml/2006/main" prst="roundRect">
            <a:avLst>
              <a:gd name="adj" fmla="val 10366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44F96-1C65-4821-8634-CB69FA3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0"/>
            <a:ext cx="470535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FFFFF">
                  <a:alpha val="0"/>
                </a:srgbClr>
              </a:gs>
              <a:gs pos="100000">
                <a:srgbClr val="E0F2FE">
                  <a:alpha val="7000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C547F9-49F9-4900-A70D-01E1768B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Solution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9FB8E-201F-47F9-9E30-B5E87FB5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619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33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3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 turns a target role into a realistic mock interview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0C5B71-05C2-4C12-8DE0-A450EA41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5638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154"/>
          </a:bodyPr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500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500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product reads the job description and candidate profile, maps likely weak spots, asks tailored questions aloud, then grades the answers against the same role.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0934A-7098-4A22-A61C-7405CB25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268605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2D45DB-438E-41D1-B063-4794F70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33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A66C2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A66C2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AB1E5-90B4-400C-9A55-0EAECDCC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33825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Profile and JD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7380FA-527C-43FF-8FCC-BA7BCD80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7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Candidate shares the exact role and resume context.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0CB768-3F2E-4F20-8386-D9A339EF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62375"/>
            <a:ext cx="28575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2862B-B06F-4447-BA6B-4C46897B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93382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099CE-304C-4C03-B5DD-B02C0F83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3382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Risk 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BCB79-EC7B-4550-8F9E-60879331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48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7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app surfaces claims and gaps before the call begins.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0DF16A-6F68-41F0-BB80-4DB911C2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268605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527F4F-DB78-4907-BB55-650D0574B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C5D9F4-8741-4A4D-BFEC-9CB846A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197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Phone-style practice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EC9D6-438D-48DD-9B07-CB77D85F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5340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4397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Questions are spoken aloud and answered by voice or typing.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9830A-1026-4719-832F-06223995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048250"/>
            <a:ext cx="2857500" cy="110490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E5E7EB">
                <a:alpha val="9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C4CA4-952F-453F-A4AB-BACA1BFD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B98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B981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5E8AEC-9EB1-453D-B842-2EEEBF4B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21970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32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Feedback and cheat sheet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55D584-8E4D-49E8-A016-8F7BB1197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534025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214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16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525866"/>
                </a:solidFill>
                <a:latin typeface="Inter"/>
                <a:ea typeface="Inter"/>
                <a:cs typeface="Inter"/>
              </a:rPr>
              <a:t>Scores, missed points, and revision links focus the next pass.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CACB85-CF9D-4852-8836-B05AFF2F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953000"/>
            <a:ext cx="2038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>
            <a:normAutofit fontScale="85963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Likely interviewer probe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C8D13E-867D-4F9B-A257-FD0B6DCE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467350"/>
            <a:ext cx="4000500" cy="800100"/>
          </a:xfrm>
          <a:prstGeom xmlns:a="http://schemas.openxmlformats.org/drawingml/2006/main" prst="roundRect">
            <a:avLst>
              <a:gd name="adj" fmla="val 30952"/>
            </a:avLst>
          </a:prstGeom>
          <a:solidFill xmlns:a="http://schemas.openxmlformats.org/drawingml/2006/main">
            <a:srgbClr val="FFFFFF">
              <a:alpha val="86000"/>
            </a:srgbClr>
          </a:solidFill>
          <a:ln xmlns:a="http://schemas.openxmlformats.org/drawingml/2006/main" w="9525">
            <a:solidFill>
              <a:srgbClr val="FFFFFF">
                <a:alpha val="8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9E62D8-F54B-45C0-B2BE-FCA13AB9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6769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28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50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"Your LinkedIn says you led the launch. What did you personally own?"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69842-9981-4451-80F0-C901C511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5B5781-D949-4084-ADB6-B9EA2E1E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2399451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7F9F8"/>
            </a:gs>
            <a:gs pos="100000">
              <a:srgbClr val="FFFFFF"/>
            </a:gs>
          </a:gsLst>
          <a:lin ang="108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47e476ab54c0d"/>
          <a:srcRect xmlns:a="http://schemas.openxmlformats.org/drawingml/2006/main" l="0" t="1899" r="0" b="18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0100" y="1200150"/>
            <a:ext cx="3009900" cy="4343400"/>
          </a:xfrm>
          <a:prstGeom xmlns:a="http://schemas.openxmlformats.org/drawingml/2006/main" prst="roundRect">
            <a:avLst>
              <a:gd name="adj" fmla="val 10127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9677E4-ABFF-4CC4-9E79-5574D00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3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255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System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16D35-B74D-40F8-B2AA-F238DBA9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104900"/>
            <a:ext cx="6191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611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3150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3150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Client-side Gemini calls create each interview artifact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61889-4368-458E-BF88-A94BE67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581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2513"/>
          </a:bodyPr>
          <a:lstStyle xmlns:a="http://schemas.openxmlformats.org/drawingml/2006/main"/>
          <a:p xmlns:a="http://schemas.openxmlformats.org/drawingml/2006/main">
            <a:pPr>
              <a:lnSpc>
                <a:spcPct val="116000"/>
              </a:lnSpc>
              <a:buNone/>
              <a:defRPr sz="1425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425">
                <a:solidFill>
                  <a:srgbClr val="525866"/>
                </a:solidFill>
                <a:latin typeface="Inter"/>
                <a:ea typeface="Inter"/>
                <a:cs typeface="Inter"/>
              </a:rPr>
              <a:t>Pressure keeps user data in the browser. The Gemini key sits in localStorage, and structured requests go directly from the client to Google’s Generative Language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3BFEF-A09B-48F0-ACBB-FC19530F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1945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C6B189-76DB-43B9-84CA-2C3430F47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14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A66C2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A66C2"/>
                </a:solidFill>
                <a:latin typeface="Inter"/>
                <a:ea typeface="Inter"/>
                <a:cs typeface="Inter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5C204-BD84-400E-91C2-8DCC2EB1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147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Job description, resume, level, mode, and round count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602CA-E574-4470-81EF-2F5B0EB6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43325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8FAFC">
              <a:alpha val="82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B989C3-0757-4BF7-8C1C-BF787C01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3857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59E0B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F59E0B"/>
                </a:solidFill>
                <a:latin typeface="Inter"/>
                <a:ea typeface="Inter"/>
                <a:cs typeface="Inter"/>
              </a:rPr>
              <a:t>Risk 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5E76E-22D0-48AE-B253-11A2FE40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3857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roleMatch, strongestSignals, three risks, and a short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9C552F-124F-4DA1-A54C-8523FCD7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6720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DD26E-E0B5-452B-97E7-7C63F84C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62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369A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0369A1"/>
                </a:solidFill>
                <a:latin typeface="Inter"/>
                <a:ea typeface="Inter"/>
                <a:cs typeface="Inter"/>
              </a:rPr>
              <a:t>Interview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EF53B4-2980-41DD-BFDD-27EC6543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6245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Seven tailored questions with hidden grading targets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BC8BA-2306-4273-8343-B91E1D36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791075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8FAFC">
              <a:alpha val="82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4BCEF-49D8-4F5D-8E36-AEC284D2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886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F4444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EF4444"/>
                </a:solidFill>
                <a:latin typeface="Inter"/>
                <a:ea typeface="Inter"/>
                <a:cs typeface="Inter"/>
              </a:rPr>
              <a:t>Feedback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B4C713-0EA3-4445-85C7-A11D9103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886325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Overall score, four dimensions, per-question verdicts, and missed 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0686C-A281-42A6-8361-5CE86C1F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6191250" cy="419100"/>
          </a:xfrm>
          <a:prstGeom xmlns:a="http://schemas.openxmlformats.org/drawingml/2006/main" prst="roundRect">
            <a:avLst>
              <a:gd name="adj" fmla="val 40909"/>
            </a:avLst>
          </a:prstGeom>
          <a:solidFill xmlns:a="http://schemas.openxmlformats.org/drawingml/2006/main">
            <a:srgbClr val="FFFFFF">
              <a:alpha val="78000"/>
            </a:srgbClr>
          </a:solidFill>
          <a:ln xmlns:a="http://schemas.openxmlformats.org/drawingml/2006/main" w="9525">
            <a:solidFill>
              <a:srgbClr val="E5E7E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CA1C3-C253-4214-9300-D81CFEAD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4102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0B981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10B981"/>
                </a:solidFill>
                <a:latin typeface="Inter"/>
                <a:ea typeface="Inter"/>
                <a:cs typeface="Inter"/>
              </a:rPr>
              <a:t>Cheat sheet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1D1D17-4AD4-41F5-8115-CDEAE316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410200"/>
            <a:ext cx="436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386"/>
          </a:bodyPr>
          <a:lstStyle xmlns:a="http://schemas.openxmlformats.org/drawingml/2006/main"/>
          <a:p xmlns:a="http://schemas.openxmlformats.org/drawingml/2006/main">
            <a:pPr>
              <a:defRPr sz="1163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63">
                <a:solidFill>
                  <a:srgbClr val="0A0A0A"/>
                </a:solidFill>
                <a:latin typeface="Inter"/>
                <a:ea typeface="Inter"/>
                <a:cs typeface="Inter"/>
              </a:rPr>
              <a:t>Revision notes and stable reference links from weakest answers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C07F5D-F3FA-4C01-A569-CE3F881D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2362200" cy="704850"/>
          </a:xfrm>
          <a:prstGeom xmlns:a="http://schemas.openxmlformats.org/drawingml/2006/main" prst="roundRect">
            <a:avLst>
              <a:gd name="adj" fmla="val 32432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FFFF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6773A-3B5A-41CE-8A96-717D2C90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244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4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No backend secrets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1538BF-8ED0-463A-A241-406390BC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81625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4166"/>
          </a:bodyPr>
          <a:lstStyle xmlns:a="http://schemas.openxmlformats.org/drawingml/2006/main"/>
          <a:p xmlns:a="http://schemas.openxmlformats.org/drawingml/2006/main">
            <a:pPr algn="ctr">
              <a:defRPr sz="1013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013">
                <a:solidFill>
                  <a:srgbClr val="525866"/>
                </a:solidFill>
                <a:latin typeface="Inter"/>
                <a:ea typeface="Inter"/>
                <a:cs typeface="Inter"/>
              </a:rPr>
              <a:t>The repository has no API 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47BE76-C0EF-452F-B383-31DDC72D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674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A0A0A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0A0A0A"/>
                </a:solidFill>
                <a:latin typeface="Inter"/>
                <a:ea typeface="Inter"/>
                <a:cs typeface="Inter"/>
              </a:rPr>
              <a:t>Pressure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AC3270-63EA-4DBC-95B1-F69B422C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2484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525866"/>
                </a:solidFill>
                <a:latin typeface="Inter"/>
                <a:ea typeface="Inter"/>
                <a:cs typeface="Inter"/>
              </a:defRPr>
            </a:pPr>
            <a:r>
              <a:rPr sz="1125" b="1">
                <a:solidFill>
                  <a:srgbClr val="525866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96095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2026-09-05T10:22:34.7330000Z</dcterms:created>
  <dcterms:modified xsi:type="dcterms:W3CDTF">2026-09-05T10:22:34.7330000Z</dcterms:modified>
</coreProperties>
</file>